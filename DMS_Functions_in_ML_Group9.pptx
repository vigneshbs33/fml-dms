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0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71" r:id="rId15"/>
    <p:sldId id="268" r:id="rId1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772400" y="-1371600"/>
            <a:ext cx="5486400" cy="5486400"/>
          </a:xfrm>
          <a:prstGeom prst="ellipse">
            <a:avLst/>
          </a:prstGeom>
          <a:solidFill>
            <a:srgbClr val="1E1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686800" y="2743200"/>
            <a:ext cx="3657600" cy="3657600"/>
          </a:xfrm>
          <a:prstGeom prst="ellipse">
            <a:avLst/>
          </a:prstGeom>
          <a:solidFill>
            <a:srgbClr val="0A0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5603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B6D4"/>
                </a:solidFill>
                <a:latin typeface="Calibri"/>
              </a:rPr>
              <a:t>BCS405A — Discrete Mathematical Structures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mbria"/>
              </a:rPr>
              <a:t>Functions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7C3AED"/>
                </a:solidFill>
                <a:latin typeface="Cambria"/>
              </a:rPr>
              <a:t>Machine Learning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8229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CBD5E1"/>
                </a:solidFill>
                <a:latin typeface="Calibri"/>
              </a:rPr>
              <a:t>Group 9  •  4th Semester  </a:t>
            </a:r>
            <a:endParaRPr lang="en-US" sz="1400" dirty="0">
              <a:solidFill>
                <a:srgbClr val="CBD5E1"/>
              </a:solidFill>
              <a:latin typeface="Calibri"/>
            </a:endParaRPr>
          </a:p>
          <a:p>
            <a:pPr algn="l"/>
            <a:endParaRPr sz="1400" b="0" i="0" dirty="0">
              <a:solidFill>
                <a:srgbClr val="CBD5E1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48640" y="4754880"/>
            <a:ext cx="2103120" cy="548640"/>
          </a:xfrm>
          <a:prstGeom prst="roundRect">
            <a:avLst/>
          </a:prstGeom>
          <a:solidFill>
            <a:srgbClr val="1E1A4A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621792" y="4818888"/>
            <a:ext cx="19659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00">
                <a:solidFill>
                  <a:srgbClr val="CBD5E1"/>
                </a:solidFill>
                <a:latin typeface="Calibri"/>
              </a:defRPr>
            </a:lvl1pPr>
          </a:lstStyle>
          <a:p>
            <a:r>
              <a:rPr dirty="0"/>
              <a:t>Vignesh B S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4754880"/>
            <a:ext cx="2103120" cy="548640"/>
          </a:xfrm>
          <a:prstGeom prst="roundRect">
            <a:avLst/>
          </a:prstGeom>
          <a:solidFill>
            <a:srgbClr val="1E1A4A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16352" y="4818888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CBD5E1"/>
                </a:solidFill>
                <a:latin typeface="Calibri"/>
              </a:rPr>
              <a:t>Rohit Maiya 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59" y="4754880"/>
            <a:ext cx="2103120" cy="548640"/>
          </a:xfrm>
          <a:prstGeom prst="roundRect">
            <a:avLst/>
          </a:prstGeom>
          <a:solidFill>
            <a:srgbClr val="1E1A4A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10912" y="4818888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Sanskar Patil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19" y="4754880"/>
            <a:ext cx="2103120" cy="548640"/>
          </a:xfrm>
          <a:prstGeom prst="roundRect">
            <a:avLst/>
          </a:prstGeom>
          <a:solidFill>
            <a:srgbClr val="1E1A4A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05471" y="4818888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Shailesh Nayak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4754880"/>
            <a:ext cx="2103120" cy="548640"/>
          </a:xfrm>
          <a:prstGeom prst="roundRect">
            <a:avLst/>
          </a:prstGeom>
          <a:solidFill>
            <a:srgbClr val="1E1A4A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00032" y="4818888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Shreenivas 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3716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3B2D7A"/>
                </a:solidFill>
                <a:latin typeface="Cambria"/>
              </a:rPr>
              <a:t>f(x) = 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Cambria"/>
              </a:rPr>
              <a:t>What We'll Cover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28600"/>
            <a:ext cx="73152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55778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66928" y="146304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0876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150876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What is a Function? — DMS Foundation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60320"/>
            <a:ext cx="55778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66928" y="2788920"/>
            <a:ext cx="502920" cy="50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2834639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2834639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Cartesian Products → Feature Spaces in 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86200"/>
            <a:ext cx="55778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5" name="Oval 14"/>
          <p:cNvSpPr/>
          <p:nvPr/>
        </p:nvSpPr>
        <p:spPr>
          <a:xfrm>
            <a:off x="566928" y="411480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41605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7" y="41605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One-to-One (Injective) → Embeddings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12079"/>
            <a:ext cx="55778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66928" y="5440679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5486399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7007" y="5486399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Onto (Surjective) → Classification Coverage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1234440"/>
            <a:ext cx="55778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419088" y="1463040"/>
            <a:ext cx="502920" cy="5029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19088" y="150876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8" y="150876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Pigeonhole Principle → Model Limitations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560320"/>
            <a:ext cx="55778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419088" y="278892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19088" y="2834639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2834639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Function Composition → Neural Network Layers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886200"/>
            <a:ext cx="55778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419088" y="4114800"/>
            <a:ext cx="502920" cy="50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19088" y="41605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9168" y="41605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Inverse Functions → Autoencoders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5212079"/>
            <a:ext cx="55778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419088" y="5440679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19088" y="5486399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9168" y="5486399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Our ML Project Demo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9D5B8-FCBF-D087-B7A7-D76DAB6F2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8BD620F-1BF4-6F7C-A10F-1DEB8869FF95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2C99D6-F382-24D5-907E-0FC3A2443FCC}"/>
              </a:ext>
            </a:extLst>
          </p:cNvPr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851EA0-3374-C557-E993-148A5A46DEF3}"/>
              </a:ext>
            </a:extLst>
          </p:cNvPr>
          <p:cNvSpPr txBox="1"/>
          <p:nvPr/>
        </p:nvSpPr>
        <p:spPr>
          <a:xfrm>
            <a:off x="457200" y="186863"/>
            <a:ext cx="112471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FFFFFF"/>
                </a:solidFill>
                <a:latin typeface="Cambria"/>
              </a:rPr>
              <a:t>Live ML Demo</a:t>
            </a:r>
            <a:endParaRPr sz="30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98A285-9DE7-A462-5A69-22FA363D618A}"/>
              </a:ext>
            </a:extLst>
          </p:cNvPr>
          <p:cNvSpPr/>
          <p:nvPr/>
        </p:nvSpPr>
        <p:spPr>
          <a:xfrm>
            <a:off x="320040" y="228600"/>
            <a:ext cx="73152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C3D758E8-0655-13CD-CD48-5854EE1D7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74504"/>
            <a:ext cx="5644742" cy="5482214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A416F0C-2C91-EF77-1FD6-00C967106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1200077"/>
            <a:ext cx="5807840" cy="5492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00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What is a Function? — DMS Definition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28600"/>
            <a:ext cx="73152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5029200" cy="5303520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6B6D4"/>
                </a:solidFill>
                <a:latin typeface="Calibri"/>
              </a:rPr>
              <a:t>📐 Formal 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A function f : A → B is a relation from set A
to set B where every element a ∈ A maps to
exactly ONE element b ∈ 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34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Domain (A)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00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Set of all valid 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834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Codomain (B)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2004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Set of all possible outputs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7033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  <a:latin typeface="Calibri"/>
              </a:rPr>
              <a:t>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690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Actual outputs produced by 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572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3F5E"/>
                </a:solidFill>
                <a:latin typeface="Calibri"/>
              </a:rPr>
              <a:t>Key Property: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937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Each input gives exactly one output.
No ambiguity — deterministic!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720" y="1143000"/>
            <a:ext cx="6035040" cy="5303520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89320" y="12801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7C3AED"/>
                </a:solidFill>
                <a:latin typeface="Calibri"/>
              </a:rPr>
              <a:t>🤖 In Machine Learning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178308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Every ML model IS a function!
f : X → Y
where X = input features (Domain)
and Y = predictions (Codomain)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383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  <a:latin typeface="Calibri"/>
              </a:rPr>
              <a:t>Real ML Examples: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3794760"/>
            <a:ext cx="5806440" cy="475488"/>
          </a:xfrm>
          <a:prstGeom prst="rect">
            <a:avLst/>
          </a:prstGeom>
          <a:solidFill>
            <a:srgbClr val="0F1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80760" y="383133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▸ Spam Detector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84962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Email text → Spam / Not Spam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4361688"/>
            <a:ext cx="5806440" cy="475488"/>
          </a:xfrm>
          <a:prstGeom prst="rect">
            <a:avLst/>
          </a:prstGeom>
          <a:solidFill>
            <a:srgbClr val="0F1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80760" y="439826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▸ Face Recognizer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4165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Image pixels → Person's name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4928616"/>
            <a:ext cx="5806440" cy="475488"/>
          </a:xfrm>
          <a:prstGeom prst="rect">
            <a:avLst/>
          </a:prstGeom>
          <a:solidFill>
            <a:srgbClr val="0F1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80760" y="49651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▸ Iris Classifier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9834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Petal/Sepal sizes → Flower species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5495544"/>
            <a:ext cx="5806440" cy="475488"/>
          </a:xfrm>
          <a:prstGeom prst="rect">
            <a:avLst/>
          </a:prstGeom>
          <a:solidFill>
            <a:srgbClr val="0F1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080760" y="55321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▸ ChatBot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5550407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CBD5E1"/>
                </a:solidFill>
                <a:latin typeface="Calibri"/>
              </a:rPr>
              <a:t>User message → AI response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Cartesian Products → Feature Spaces in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28600"/>
            <a:ext cx="73152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53035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  <a:latin typeface="Cambria"/>
              </a:rPr>
              <a:t>DMS: Cartesian 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3736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A × B = {(a, b) | a ∈ A and b ∈ B}
Every element is an ordered pair.
Example: A={1,2}, B={x,y}
A×B = {(1,x),(1,y),(2,x),(2,y)}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200400"/>
            <a:ext cx="530352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32918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  <a:latin typeface="Cambria"/>
              </a:rPr>
              <a:t>ML: Feature 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49039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Each ML data point is an element of
a Cartesian product of feature sets!
Iris Dataset:
Sepal_Length × Sepal_Width × Petal_Length
× Petal_Width × Species_Label
Every data row = one ordered tuple (x₁,x₂,x₃,x₄,y)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852160" cy="5212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12801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  <a:latin typeface="Cambria"/>
              </a:rPr>
              <a:t>Visual: Iris Feature Space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783080"/>
            <a:ext cx="5577840" cy="685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126480" y="1965960"/>
            <a:ext cx="320040" cy="3200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1837943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F₁ = Sepal Length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1488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{4.3, 4.4 ... 7.9} cm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651760"/>
            <a:ext cx="5577840" cy="685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126480" y="2834640"/>
            <a:ext cx="320040" cy="32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0" y="270662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F₂ = Sepal Width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0175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{2.0, 2.2 ... 4.4} 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520439"/>
            <a:ext cx="5577840" cy="685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126480" y="370332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83680" y="3575303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F₃ = Petal Length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8862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{1.0, 1.1 ... 6.9} cm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4389120"/>
            <a:ext cx="5577840" cy="685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126480" y="457200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83680" y="4443983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F₄ = Petal Width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7548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{0.1, 0.2 ... 2.5} cm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5257800"/>
            <a:ext cx="5577840" cy="685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126480" y="544068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83680" y="531266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Y  = Species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6235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{Setosa, Versicolor, Virginica}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59752" y="607161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7C3AED"/>
                </a:solidFill>
                <a:latin typeface="Calibri"/>
              </a:rPr>
              <a:t>Input Space = F₁ × F₂ × F₃ × F₄     Output = 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Types of Functions — DMS to ML Mapping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28600"/>
            <a:ext cx="73152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2743200" cy="5303520"/>
          </a:xfrm>
          <a:prstGeom prst="roundRect">
            <a:avLst/>
          </a:prstGeom>
          <a:solidFill>
            <a:srgbClr val="161B3A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88720" y="1371600"/>
            <a:ext cx="1097280" cy="9144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141732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FFFFFF"/>
                </a:solidFill>
                <a:latin typeface="Calibri"/>
              </a:rPr>
              <a:t>1→1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7C3AED"/>
                </a:solidFill>
                <a:latin typeface="Cambria"/>
              </a:rPr>
              <a:t>One-to-One
(Injective)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200400"/>
            <a:ext cx="2377440" cy="27432"/>
          </a:xfrm>
          <a:prstGeom prst="rect">
            <a:avLst/>
          </a:prstGeom>
          <a:solidFill>
            <a:srgbClr val="2D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2461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BD5E1"/>
                </a:solidFill>
                <a:latin typeface="Calibri"/>
              </a:rPr>
              <a:t>📐 DMS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616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Different inputs map
to different outputs.
f(a)=f(b) ⟹ a=b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2377440" cy="27432"/>
          </a:xfrm>
          <a:prstGeom prst="rect">
            <a:avLst/>
          </a:prstGeom>
          <a:solidFill>
            <a:srgbClr val="2D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🤖 In 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3776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Embeddings &amp; Encoders
Each data point gets a
unique representation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1188720"/>
            <a:ext cx="2743200" cy="5303520"/>
          </a:xfrm>
          <a:prstGeom prst="roundRect">
            <a:avLst/>
          </a:prstGeom>
          <a:solidFill>
            <a:srgbClr val="161B3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114800" y="1371600"/>
            <a:ext cx="1097280" cy="9144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0" y="141732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→All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24231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6B6D4"/>
                </a:solidFill>
                <a:latin typeface="Cambria"/>
              </a:rPr>
              <a:t>Onto
(Surjective)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3200400"/>
            <a:ext cx="2377440" cy="27432"/>
          </a:xfrm>
          <a:prstGeom prst="rect">
            <a:avLst/>
          </a:prstGeom>
          <a:solidFill>
            <a:srgbClr val="2D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74720" y="32461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BD5E1"/>
                </a:solidFill>
                <a:latin typeface="Calibri"/>
              </a:rPr>
              <a:t>📐 DMS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356616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Every element in
codomain is covered.
Range = Codomain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4572000"/>
            <a:ext cx="2377440" cy="27432"/>
          </a:xfrm>
          <a:prstGeom prst="rect">
            <a:avLst/>
          </a:prstGeom>
          <a:solidFill>
            <a:srgbClr val="2D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0" y="4617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Calibri"/>
              </a:rPr>
              <a:t>🤖 In 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493776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Good Classifiers
All classes get predicted
(no dead outputs)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1188720"/>
            <a:ext cx="2743200" cy="5303520"/>
          </a:xfrm>
          <a:prstGeom prst="roundRect">
            <a:avLst/>
          </a:prstGeom>
          <a:solidFill>
            <a:srgbClr val="161B3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040880" y="1371600"/>
            <a:ext cx="109728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40880" y="141732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24231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  <a:latin typeface="Cambria"/>
              </a:rPr>
              <a:t>Bijective
(Both)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200400"/>
            <a:ext cx="2377440" cy="27432"/>
          </a:xfrm>
          <a:prstGeom prst="rect">
            <a:avLst/>
          </a:prstGeom>
          <a:solidFill>
            <a:srgbClr val="2D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0" y="32461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BD5E1"/>
                </a:solidFill>
                <a:latin typeface="Calibri"/>
              </a:rPr>
              <a:t>📐 DMS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56616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One-to-One AND Onto.
Perfect pairing of
A and B elements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572000"/>
            <a:ext cx="2377440" cy="27432"/>
          </a:xfrm>
          <a:prstGeom prst="rect">
            <a:avLst/>
          </a:prstGeom>
          <a:solidFill>
            <a:srgbClr val="2D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0800" y="4617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🤖 In ML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93776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Invertible Networks
Autoencoders that can
perfectly reconstruct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1188720"/>
            <a:ext cx="2743200" cy="5303520"/>
          </a:xfrm>
          <a:prstGeom prst="roundRect">
            <a:avLst/>
          </a:prstGeom>
          <a:solidFill>
            <a:srgbClr val="161B3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9966960" y="1371600"/>
            <a:ext cx="1097280" cy="914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966960" y="141732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f(x)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24231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9E0B"/>
                </a:solidFill>
                <a:latin typeface="Cambria"/>
              </a:rPr>
              <a:t>Plain
Function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26880" y="3200400"/>
            <a:ext cx="2377440" cy="27432"/>
          </a:xfrm>
          <a:prstGeom prst="rect">
            <a:avLst/>
          </a:prstGeom>
          <a:solidFill>
            <a:srgbClr val="2D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326880" y="32461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BD5E1"/>
                </a:solidFill>
                <a:latin typeface="Calibri"/>
              </a:rPr>
              <a:t>📐 DMS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0" y="356616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Each input has
exactly one output
(basic requirement)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26880" y="4572000"/>
            <a:ext cx="2377440" cy="27432"/>
          </a:xfrm>
          <a:prstGeom prst="rect">
            <a:avLst/>
          </a:prstGeom>
          <a:solidFill>
            <a:srgbClr val="2D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326880" y="4617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🤖 In ML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0" y="493776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All ML Models
Deterministic prediction
for every input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One-to-One (Injective) Functions → Embeddings in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28600"/>
            <a:ext cx="73152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530352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  <a:latin typeface="Cambria"/>
              </a:rPr>
              <a:t>DMS: Injective Function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3736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f : A → B is injective (one-to-one) if:
   f(a₁) = f(a₂)  ⟹  a₁ = a₂
No two different inputs give the same output.
Each output 'fingerprints' its unique input.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337560"/>
            <a:ext cx="5303520" cy="3017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34290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  <a:latin typeface="Cambria"/>
              </a:rPr>
              <a:t>ML: Word Embeddings (Word2Vec)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8620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Each word → unique vector in ℝⁿ space
"cat"  →  [0.21, -0.45, 0.88, ...]
"dog"  →  [0.19, -0.41, 0.91, ...]
"bank" →  [0.72,  0.33, -0.12, ...]
Different words = different vectors (injective!)
Similar words = nearby vectors (bonus property)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188720"/>
            <a:ext cx="594360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12801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7C3AED"/>
                </a:solidFill>
                <a:latin typeface="Cambria"/>
              </a:rPr>
              <a:t>Other ML Injective Examples</a:t>
            </a:r>
          </a:p>
        </p:txBody>
      </p:sp>
      <p:sp>
        <p:nvSpPr>
          <p:cNvPr id="14" name="Oval 13"/>
          <p:cNvSpPr/>
          <p:nvPr/>
        </p:nvSpPr>
        <p:spPr>
          <a:xfrm>
            <a:off x="6094412" y="1627631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97332" y="1591055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Face Embeddings (FaceNet)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7332" y="1920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Each person's face → unique 128-d vector</a:t>
            </a:r>
          </a:p>
        </p:txBody>
      </p:sp>
      <p:sp>
        <p:nvSpPr>
          <p:cNvPr id="17" name="Oval 16"/>
          <p:cNvSpPr/>
          <p:nvPr/>
        </p:nvSpPr>
        <p:spPr>
          <a:xfrm>
            <a:off x="6094412" y="2404872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97332" y="236829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Image Encoders (VAE)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7332" y="2697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Each image → unique latent code z</a:t>
            </a:r>
          </a:p>
        </p:txBody>
      </p:sp>
      <p:sp>
        <p:nvSpPr>
          <p:cNvPr id="20" name="Oval 19"/>
          <p:cNvSpPr/>
          <p:nvPr/>
        </p:nvSpPr>
        <p:spPr>
          <a:xfrm>
            <a:off x="6094412" y="318211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97332" y="31455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1E293B"/>
                </a:solidFill>
                <a:latin typeface="Calibri"/>
              </a:rPr>
              <a:t>Graph Embeddings (node2vec)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7332" y="3474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64748B"/>
                </a:solidFill>
                <a:latin typeface="Calibri"/>
              </a:rPr>
              <a:t>Each graph node → unique embedding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3931920"/>
            <a:ext cx="5943600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80760" y="40233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  <a:latin typeface="Cambria"/>
              </a:rPr>
              <a:t>Why Injectivity Matters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44805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✔  Unique representations prevent confusion
✔  Model can distinguish between all inputs
✔  Information is preserved (no data loss)
✔  Enables reconstruction (inverse possible)
✗  May need high-dimensional output space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Onto (Surjective) Functions → Classification in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28600"/>
            <a:ext cx="73152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5303520" cy="2011680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  <a:latin typeface="Cambria"/>
              </a:rPr>
              <a:t>DMS: Surjective Function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f : A → B is surjective (onto) if:
   ∀b ∈ B, ∃a ∈ A such that f(a) = b
Every element of the codomain B
is hit by at least one input from A.
 Range = Codomain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291840"/>
            <a:ext cx="5303520" cy="3200400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  <a:latin typeface="Cambria"/>
              </a:rPr>
              <a:t>ML: Multi-class Classification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4048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A good classifier is surjective:
Classes = {Setosa, Versicolor, Virginica}
For EVERY class, the model must be
capable of predicting it — otherwise
that class is 'dead' (unreachable output).
Softmax output layer ensures surjectivity:
All class probabilities sum to 1.0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143000"/>
            <a:ext cx="5852160" cy="5349240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1234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  <a:latin typeface="Cambria"/>
              </a:rPr>
              <a:t>Surjective vs Non-Surjective 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828800"/>
            <a:ext cx="5577840" cy="2011680"/>
          </a:xfrm>
          <a:prstGeom prst="rect">
            <a:avLst/>
          </a:prstGeom>
          <a:solidFill>
            <a:srgbClr val="0A2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187451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✅ Surjective Classifier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28600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Training data → Model predicts all 3 classes
Setosa ✔   Versicolor ✔   Virginica ✔
All outputs are reachable → Useful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4023360"/>
            <a:ext cx="5577840" cy="2148840"/>
          </a:xfrm>
          <a:prstGeom prst="rect">
            <a:avLst/>
          </a:prstGeom>
          <a:solidFill>
            <a:srgbClr val="2A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0" y="40690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3F5E"/>
                </a:solidFill>
                <a:latin typeface="Calibri"/>
              </a:rPr>
              <a:t>❌ Non-Surjective (Bad) Classifier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480560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Imbalanced training data → Model never
predicts 'Virginica' (dead class)
Virginia ✗ — output unreachable!
Bias in training causes surjectivity failure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The Pigeonhole Principle → ML Model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28600"/>
            <a:ext cx="73152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114300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6187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  <a:latin typeface="Cambria"/>
              </a:rPr>
              <a:t>DMS Pigeonhole Principle: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298448"/>
            <a:ext cx="74980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If n+1 pigeons are placed into n holes, at least one hole contains 2 or more pigeons.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06040"/>
            <a:ext cx="56692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02920" y="2770632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2715768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  <a:latin typeface="Calibri"/>
              </a:rPr>
              <a:t>Compression Cannot Be Lossless for All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54680"/>
            <a:ext cx="5349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If a compressor maps 1000-bit inputs to 999-bit codes,
by pigeonhole: ≥2 inputs share the same code.
Some data MUST be lost. ML models compressing
high-dim → low-dim always have this limit.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606040"/>
            <a:ext cx="56692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00800" y="2770632"/>
            <a:ext cx="347472" cy="347472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85432" y="2715768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  <a:latin typeface="Calibri"/>
              </a:rPr>
              <a:t>Classifiers Must Misclassify Some Inputs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154680"/>
            <a:ext cx="5349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If input space |X| &gt; output classes |Y|,
by pigeonhole: multiple inputs share one output.
The model cannot perfectly distinguish ALL inputs.
This is why 100% test accuracy is suspicious!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4572000"/>
            <a:ext cx="56692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02920" y="473659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" y="4681728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Dimensionality Reduction (PCA, t-SNE)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120640"/>
            <a:ext cx="5349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Reducing 784 pixels → 2D for visualization:
Many different images map to the same 2D point.
Pigeonhole guarantees information loss.
We accept this trade-off for visualization.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572000"/>
            <a:ext cx="56692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0800" y="4736592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85432" y="4681728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Hash Collisions in Feature Hashing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120640"/>
            <a:ext cx="5349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NLP trick: hash words → fixed-size vector.
If vocabulary (10000 words) &gt; buckets (1000),
pigeonhole guarantees collisions.
Designed intentionally but mathematically proven.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Function Composition → Neural Network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28600"/>
            <a:ext cx="73152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1005840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9E0B"/>
                </a:solidFill>
                <a:latin typeface="Cambria"/>
              </a:rPr>
              <a:t>DMS:  (g ∘ f)(x) = g(f(x))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52728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Apply f first, then apply g to the result. Composition is NOT commutative: g∘f ≠ f∘g in general.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286000"/>
            <a:ext cx="2011680" cy="1737360"/>
          </a:xfrm>
          <a:prstGeom prst="ellipse">
            <a:avLst/>
          </a:prstGeom>
          <a:solidFill>
            <a:srgbClr val="161B3A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BD5E1"/>
                </a:solidFill>
                <a:latin typeface="Calibri"/>
              </a:rPr>
              <a:t>Input
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8892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  <a:latin typeface="Calibri"/>
              </a:rPr>
              <a:t>x ∈ ℝ⁴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832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4A3B8"/>
                </a:solidFill>
                <a:latin typeface="Calibri"/>
              </a:rPr>
              <a:t>Sepal/Petal
measurements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2971800"/>
            <a:ext cx="228600" cy="914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2788920" y="2286000"/>
            <a:ext cx="2011680" cy="1737360"/>
          </a:xfrm>
          <a:prstGeom prst="ellipse">
            <a:avLst/>
          </a:prstGeom>
          <a:solidFill>
            <a:srgbClr val="161B3A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834639" y="2331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C3AED"/>
                </a:solidFill>
                <a:latin typeface="Calibri"/>
              </a:rPr>
              <a:t>Hidden
Layer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39" y="278892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  <a:latin typeface="Calibri"/>
              </a:rPr>
              <a:t>f₁(x)=
ReLU(W₁x+b₁)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39" y="33832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4A3B8"/>
                </a:solidFill>
                <a:latin typeface="Calibri"/>
              </a:rPr>
              <a:t>Feature
detector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2971800"/>
            <a:ext cx="22860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120640" y="2286000"/>
            <a:ext cx="2011680" cy="1737360"/>
          </a:xfrm>
          <a:prstGeom prst="ellipse">
            <a:avLst/>
          </a:prstGeom>
          <a:solidFill>
            <a:srgbClr val="161B3A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66359" y="2331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6B6D4"/>
                </a:solidFill>
                <a:latin typeface="Calibri"/>
              </a:rPr>
              <a:t>Hidden
Layer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59" y="278892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  <a:latin typeface="Calibri"/>
              </a:rPr>
              <a:t>f₂(·)=
ReLU(W₂·+b₂)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33832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4A3B8"/>
                </a:solidFill>
                <a:latin typeface="Calibri"/>
              </a:rPr>
              <a:t>Higher-order
patterns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78040" y="2971800"/>
            <a:ext cx="228600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7452359" y="2286000"/>
            <a:ext cx="2011680" cy="1737360"/>
          </a:xfrm>
          <a:prstGeom prst="ellipse">
            <a:avLst/>
          </a:prstGeom>
          <a:solidFill>
            <a:srgbClr val="161B3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79" y="2331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B981"/>
                </a:solidFill>
                <a:latin typeface="Calibri"/>
              </a:rPr>
              <a:t>Output
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78892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  <a:latin typeface="Calibri"/>
              </a:rPr>
              <a:t>f₃(·)=
Softmax(W₃·+b₃)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3832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4A3B8"/>
                </a:solidFill>
                <a:latin typeface="Calibri"/>
              </a:rPr>
              <a:t>Class
probabilities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59" y="2971800"/>
            <a:ext cx="22860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784080" y="2286000"/>
            <a:ext cx="2011680" cy="1737360"/>
          </a:xfrm>
          <a:prstGeom prst="ellipse">
            <a:avLst/>
          </a:prstGeom>
          <a:solidFill>
            <a:srgbClr val="161B3A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829800" y="2331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  <a:latin typeface="Calibri"/>
              </a:rPr>
              <a:t>Prediction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278892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  <a:latin typeface="Calibri"/>
              </a:rPr>
              <a:t>ŷ ∈ {0,1,2}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33832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4A3B8"/>
                </a:solidFill>
                <a:latin typeface="Calibri"/>
              </a:rPr>
              <a:t>Setosa /
Versicolor /
Virginica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251960"/>
            <a:ext cx="11430000" cy="1051560"/>
          </a:xfrm>
          <a:prstGeom prst="rect">
            <a:avLst/>
          </a:prstGeom>
          <a:solidFill>
            <a:srgbClr val="0A0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431596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6B6D4"/>
                </a:solidFill>
                <a:latin typeface="Cambria"/>
              </a:rPr>
              <a:t>Complete Model = f₃ ∘ f₂ ∘ f₁  (x)  =  f₃(f₂(f₁(x)))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43159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← DMS Composition!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773168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Order matters!  Changing layer order gives different results.  Matches DMS property: g∘f ≠ f∘g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49240"/>
            <a:ext cx="11430000" cy="1188720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4360" y="541324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  <a:latin typeface="Calibri"/>
              </a:rPr>
              <a:t>Key DMS Theorem Applied: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57790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If f:A→B and g:B→C, then (g∘f):A→C   |   Neural Network is a chain of function compositions mapping raw input to prediction!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Inverse Functions → Autoencoders &amp; Decoders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28600"/>
            <a:ext cx="73152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530352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  <a:latin typeface="Cambria"/>
              </a:rPr>
              <a:t>DMS: Inverse Function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5480"/>
            <a:ext cx="4846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E293B"/>
                </a:solidFill>
                <a:latin typeface="Calibri"/>
              </a:rPr>
              <a:t>If f : A → B is bijective, then f⁻¹ : B → A
satisfies: f⁻¹(f(a)) = a  and  f(f⁻¹(b)) = b
Only BIJECTIVE functions have true inverses.
Injective-only functions have left inverses.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246120"/>
            <a:ext cx="5303520" cy="3566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3337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  <a:latin typeface="Cambria"/>
              </a:rPr>
              <a:t>ML: Autoencoder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22191"/>
            <a:ext cx="48463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Encoder: E : X → Z  (compress to latent space)
Decoder: D : Z → X  (reconstruct from latent)
D ∘ E ≈ Identity function!
  D(E(x)) ≈ x  ← This IS the inverse!
Used for:
  ▸ Image denoising
  ▸ Anomaly detection
  ▸ Feature learning
  ▸ Data generation (VAE)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852160" cy="5623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12801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  <a:latin typeface="Cambria"/>
              </a:rPr>
              <a:t>Autoencoder as Inverse Function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828800"/>
            <a:ext cx="4846320" cy="6583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193852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293B"/>
                </a:solidFill>
                <a:latin typeface="Calibri"/>
              </a:rPr>
              <a:t>Input x
(784 pixels)</a:t>
            </a:r>
          </a:p>
        </p:txBody>
      </p:sp>
      <p:sp>
        <p:nvSpPr>
          <p:cNvPr id="16" name="Oval 15"/>
          <p:cNvSpPr/>
          <p:nvPr/>
        </p:nvSpPr>
        <p:spPr>
          <a:xfrm>
            <a:off x="8641080" y="2487168"/>
            <a:ext cx="365760" cy="2286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0" y="2697480"/>
            <a:ext cx="4846320" cy="6583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280720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Encoder E(x)
→ Z (32-dim)</a:t>
            </a:r>
          </a:p>
        </p:txBody>
      </p:sp>
      <p:sp>
        <p:nvSpPr>
          <p:cNvPr id="19" name="Oval 18"/>
          <p:cNvSpPr/>
          <p:nvPr/>
        </p:nvSpPr>
        <p:spPr>
          <a:xfrm>
            <a:off x="8641080" y="3355848"/>
            <a:ext cx="365760" cy="2286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0" y="3566160"/>
            <a:ext cx="4846320" cy="658368"/>
          </a:xfrm>
          <a:prstGeom prst="roundRect">
            <a:avLst/>
          </a:prstGeom>
          <a:solidFill>
            <a:srgbClr val="1E1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3675887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Latent
Code z</a:t>
            </a:r>
          </a:p>
        </p:txBody>
      </p:sp>
      <p:sp>
        <p:nvSpPr>
          <p:cNvPr id="22" name="Oval 21"/>
          <p:cNvSpPr/>
          <p:nvPr/>
        </p:nvSpPr>
        <p:spPr>
          <a:xfrm>
            <a:off x="8641080" y="4224528"/>
            <a:ext cx="365760" cy="2286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400800" y="4434840"/>
            <a:ext cx="4846320" cy="658368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454456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Decoder D(z)
→ X̂</a:t>
            </a:r>
          </a:p>
        </p:txBody>
      </p:sp>
      <p:sp>
        <p:nvSpPr>
          <p:cNvPr id="25" name="Oval 24"/>
          <p:cNvSpPr/>
          <p:nvPr/>
        </p:nvSpPr>
        <p:spPr>
          <a:xfrm>
            <a:off x="8641080" y="5093207"/>
            <a:ext cx="365760" cy="2286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00800" y="5303520"/>
            <a:ext cx="4846320" cy="6583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541324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293B"/>
                </a:solidFill>
                <a:latin typeface="Calibri"/>
              </a:rPr>
              <a:t>Output X̂
(784 pixels)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6144768"/>
            <a:ext cx="5486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7C3AED"/>
                </a:solidFill>
                <a:latin typeface="Calibri"/>
              </a:rPr>
              <a:t>Loss = ||x - D(E(x))||² → 0
Minimize reconstruction error ≡ Making D = E⁻¹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Our ML Project — Iris DMS Function Visualizer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28600"/>
            <a:ext cx="73152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777240"/>
          </a:xfrm>
          <a:prstGeom prst="rect">
            <a:avLst/>
          </a:prstGeom>
          <a:solidFill>
            <a:srgbClr val="1E1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070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7C3AED"/>
                </a:solidFill>
                <a:latin typeface="Cambria"/>
              </a:rPr>
              <a:t>🌸 Iris Flower Classifier — Every DMS Concept Shown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103120"/>
            <a:ext cx="2743200" cy="1874519"/>
          </a:xfrm>
          <a:prstGeom prst="roundRect">
            <a:avLst/>
          </a:prstGeom>
          <a:solidFill>
            <a:srgbClr val="161B3A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" y="2194560"/>
            <a:ext cx="2542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📐 Cartesian Product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596896"/>
            <a:ext cx="2542032" cy="36576"/>
          </a:xfrm>
          <a:prstGeom prst="rect">
            <a:avLst/>
          </a:prstGeom>
          <a:solidFill>
            <a:srgbClr val="2D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" y="2670048"/>
            <a:ext cx="254203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4 features = F₁×F₂×F₃×F₄
Input space shown as feature matrix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9272" y="2103120"/>
            <a:ext cx="2743200" cy="1874519"/>
          </a:xfrm>
          <a:prstGeom prst="roundRect">
            <a:avLst/>
          </a:prstGeom>
          <a:solidFill>
            <a:srgbClr val="161B3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29000" y="2194560"/>
            <a:ext cx="2542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  <a:latin typeface="Calibri"/>
              </a:rPr>
              <a:t>🔢 Function f: X → 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29000" y="2596896"/>
            <a:ext cx="2542032" cy="36576"/>
          </a:xfrm>
          <a:prstGeom prst="rect">
            <a:avLst/>
          </a:prstGeom>
          <a:solidFill>
            <a:srgbClr val="2D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29000" y="2670048"/>
            <a:ext cx="254203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Neural net as deterministic
mapping: input → species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2784" y="2103120"/>
            <a:ext cx="2743200" cy="1874519"/>
          </a:xfrm>
          <a:prstGeom prst="roundRect">
            <a:avLst/>
          </a:prstGeom>
          <a:solidFill>
            <a:srgbClr val="161B3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82512" y="2194560"/>
            <a:ext cx="2542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1→1 Injective Layer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2596896"/>
            <a:ext cx="2542032" cy="36576"/>
          </a:xfrm>
          <a:prstGeom prst="rect">
            <a:avLst/>
          </a:prstGeom>
          <a:solidFill>
            <a:srgbClr val="2D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82512" y="2670048"/>
            <a:ext cx="254203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Hidden layer creates unique
embedding per data point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26296" y="2103120"/>
            <a:ext cx="2743200" cy="1874519"/>
          </a:xfrm>
          <a:prstGeom prst="roundRect">
            <a:avLst/>
          </a:prstGeom>
          <a:solidFill>
            <a:srgbClr val="161B3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36024" y="2194560"/>
            <a:ext cx="2542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→All Surjective Output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36024" y="2596896"/>
            <a:ext cx="2542032" cy="36576"/>
          </a:xfrm>
          <a:prstGeom prst="rect">
            <a:avLst/>
          </a:prstGeom>
          <a:solidFill>
            <a:srgbClr val="2D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36024" y="2670048"/>
            <a:ext cx="254203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Softmax predicts all 3 classes;
no dead class outputs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206240"/>
            <a:ext cx="2743200" cy="1874519"/>
          </a:xfrm>
          <a:prstGeom prst="roundRect">
            <a:avLst/>
          </a:prstGeom>
          <a:solidFill>
            <a:srgbClr val="161B3A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5488" y="4297679"/>
            <a:ext cx="2542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3F5E"/>
                </a:solidFill>
                <a:latin typeface="Calibri"/>
              </a:rPr>
              <a:t>f∘g Composition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4700016"/>
            <a:ext cx="2542032" cy="36576"/>
          </a:xfrm>
          <a:prstGeom prst="rect">
            <a:avLst/>
          </a:prstGeom>
          <a:solidFill>
            <a:srgbClr val="2D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5488" y="4773168"/>
            <a:ext cx="254203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Visualize layer-by-layer
transformation of data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19272" y="4206240"/>
            <a:ext cx="2743200" cy="1874519"/>
          </a:xfrm>
          <a:prstGeom prst="roundRect">
            <a:avLst/>
          </a:prstGeom>
          <a:solidFill>
            <a:srgbClr val="161B3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429000" y="4297679"/>
            <a:ext cx="2542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  <a:latin typeface="Calibri"/>
              </a:rPr>
              <a:t>f⁻¹ Inverse (Bonus)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29000" y="4700016"/>
            <a:ext cx="2542032" cy="36576"/>
          </a:xfrm>
          <a:prstGeom prst="rect">
            <a:avLst/>
          </a:prstGeom>
          <a:solidFill>
            <a:srgbClr val="2D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429000" y="4773168"/>
            <a:ext cx="254203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Autoencoder reconstructs
original features from embedding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72784" y="4206240"/>
            <a:ext cx="2743200" cy="1874519"/>
          </a:xfrm>
          <a:prstGeom prst="roundRect">
            <a:avLst/>
          </a:prstGeom>
          <a:solidFill>
            <a:srgbClr val="161B3A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82512" y="4297679"/>
            <a:ext cx="2542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🐦 Pigeonhole Demo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82512" y="4700016"/>
            <a:ext cx="2542032" cy="36576"/>
          </a:xfrm>
          <a:prstGeom prst="rect">
            <a:avLst/>
          </a:prstGeom>
          <a:solidFill>
            <a:srgbClr val="2D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82512" y="4773168"/>
            <a:ext cx="254203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Show why 4D→2D projection
loses info (PCA visualization)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26296" y="4206240"/>
            <a:ext cx="2743200" cy="1874519"/>
          </a:xfrm>
          <a:prstGeom prst="roundRect">
            <a:avLst/>
          </a:prstGeom>
          <a:solidFill>
            <a:srgbClr val="161B3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36024" y="4297679"/>
            <a:ext cx="2542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📊 Live Accuracy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36024" y="4700016"/>
            <a:ext cx="2542032" cy="36576"/>
          </a:xfrm>
          <a:prstGeom prst="rect">
            <a:avLst/>
          </a:prstGeom>
          <a:solidFill>
            <a:srgbClr val="2D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336024" y="4773168"/>
            <a:ext cx="254203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Test set results, confusion
matrix, class coverage check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6263640"/>
            <a:ext cx="11430000" cy="502920"/>
          </a:xfrm>
          <a:prstGeom prst="rect">
            <a:avLst/>
          </a:prstGeom>
          <a:solidFill>
            <a:srgbClr val="0F0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94360" y="6309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Tech Stack:  Python  •  scikit-learn  •  TensorFlow/Keras  •  Matplotlib  •  NumPy  •  Pandas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DMS ↔ Machine Learning — Concept Map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28600"/>
            <a:ext cx="73152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2286000" cy="502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79" y="1289304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DMS Concept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234440"/>
            <a:ext cx="3291840" cy="502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0" y="1289304"/>
            <a:ext cx="3154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Mathematical Definition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234440"/>
            <a:ext cx="320040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80759" y="1289304"/>
            <a:ext cx="3063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ML Application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1234440"/>
            <a:ext cx="292608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326880" y="1289304"/>
            <a:ext cx="2788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Our Project Example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783080"/>
            <a:ext cx="2286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79" y="1837944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Plain Function f:A→B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1783080"/>
            <a:ext cx="32918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0" y="1837944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Each a∈A → exactly one b∈B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1783080"/>
            <a:ext cx="32004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80759" y="1837944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Any ML Model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783080"/>
            <a:ext cx="2926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26880" y="1837944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Iris Neural Network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423160"/>
            <a:ext cx="2286000" cy="5669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1479" y="2478024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Cartesian Product A×B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2423160"/>
            <a:ext cx="3291840" cy="5669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43200" y="2478024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Set of all ordered pairs from A,B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423160"/>
            <a:ext cx="3200400" cy="5669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080759" y="2478024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Feature Space / Dataset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2423160"/>
            <a:ext cx="2926080" cy="5669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326880" y="2478024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4-feature Iris input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063240"/>
            <a:ext cx="2286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79" y="3118104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Injective (1-to-1)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51760" y="3063240"/>
            <a:ext cx="32918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743200" y="3118104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f(a₁)=f(a₂) ⟹ a₁=a₂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89320" y="3063240"/>
            <a:ext cx="32004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080759" y="3118104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Embeddings, Encoders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3063240"/>
            <a:ext cx="2926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26880" y="3118104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Hidden layer vectors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3703320"/>
            <a:ext cx="2286000" cy="5669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79" y="3758183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Surjective (Onto)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51760" y="3703320"/>
            <a:ext cx="3291840" cy="5669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743200" y="3758183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∀b∈B, ∃a∈A: f(a)=b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89320" y="3703320"/>
            <a:ext cx="3200400" cy="5669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080759" y="3758183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Good Classifiers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35440" y="3703320"/>
            <a:ext cx="2926080" cy="5669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326880" y="3758183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Softmax all 3 classes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4343400"/>
            <a:ext cx="2286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1479" y="4398264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Bijective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51760" y="4343400"/>
            <a:ext cx="32918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743200" y="4398264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Both 1-to-1 and Onto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89320" y="4343400"/>
            <a:ext cx="32004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080759" y="4398264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Invertible Networks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235440" y="4343400"/>
            <a:ext cx="2926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326880" y="4398264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Autoencoder Demo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4983480"/>
            <a:ext cx="2286000" cy="5669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11479" y="5038344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Function Composition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51760" y="4983480"/>
            <a:ext cx="3291840" cy="5669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743200" y="5038344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(g∘f)(x) = g(f(x))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89320" y="4983480"/>
            <a:ext cx="3200400" cy="5669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080759" y="5038344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Deep Neural Networks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235440" y="4983480"/>
            <a:ext cx="2926080" cy="5669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326880" y="5038344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3-layer composition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" y="5623559"/>
            <a:ext cx="2286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11479" y="5678423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Inverse Function f⁻¹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51760" y="5623559"/>
            <a:ext cx="32918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743200" y="5678423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f⁻¹(f(a))=a for bijective f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989320" y="5623559"/>
            <a:ext cx="32004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080759" y="5678423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Autoencoder Decoder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235440" y="5623559"/>
            <a:ext cx="2926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326880" y="5678423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Reconstruction from z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6263640"/>
            <a:ext cx="2286000" cy="5669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11479" y="6318503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Pigeonhole Principle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651760" y="6263640"/>
            <a:ext cx="3291840" cy="5669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2743200" y="6318503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n+1 pigeons, n holes → collision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89320" y="6263640"/>
            <a:ext cx="3200400" cy="5669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080759" y="6318503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Model Limits, PCA loss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235440" y="6263640"/>
            <a:ext cx="2926080" cy="5669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326880" y="6318503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4D→2D PCA demo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F07CF-AA0D-F13A-485F-494469F75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EAD9E3-CCF7-F5DA-AA0E-F9B10176E461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FE804A-E2D0-FA5A-EB1C-93C594C524E0}"/>
              </a:ext>
            </a:extLst>
          </p:cNvPr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7CE855-0F59-9874-5720-C2908FCE3E10}"/>
              </a:ext>
            </a:extLst>
          </p:cNvPr>
          <p:cNvSpPr txBox="1"/>
          <p:nvPr/>
        </p:nvSpPr>
        <p:spPr>
          <a:xfrm>
            <a:off x="457200" y="186863"/>
            <a:ext cx="112471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FFFFFF"/>
                </a:solidFill>
                <a:latin typeface="Cambria"/>
              </a:rPr>
              <a:t>ML Model Code</a:t>
            </a:r>
            <a:endParaRPr sz="30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7A0A15-7364-134B-3EA0-C9FC99420FA5}"/>
              </a:ext>
            </a:extLst>
          </p:cNvPr>
          <p:cNvSpPr/>
          <p:nvPr/>
        </p:nvSpPr>
        <p:spPr>
          <a:xfrm>
            <a:off x="320040" y="228600"/>
            <a:ext cx="73152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D2C6BB-7FC5-0509-B8F0-3DCDF86FB8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376" y="1484670"/>
            <a:ext cx="4425570" cy="45526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E09ADA9-E7EF-867E-17F3-F481AF366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872" y="1433709"/>
            <a:ext cx="4322251" cy="4603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293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4572000" cy="4572000"/>
          </a:xfrm>
          <a:prstGeom prst="ellipse">
            <a:avLst/>
          </a:prstGeom>
          <a:solidFill>
            <a:srgbClr val="1E1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058400" y="3657600"/>
            <a:ext cx="2743200" cy="2743200"/>
          </a:xfrm>
          <a:prstGeom prst="ellipse">
            <a:avLst/>
          </a:prstGeom>
          <a:solidFill>
            <a:srgbClr val="0A0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 i="0">
                <a:solidFill>
                  <a:srgbClr val="FFFFFF"/>
                </a:solidFill>
                <a:latin typeface="Cambria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7C3AED"/>
                </a:solidFill>
                <a:latin typeface="Cambria"/>
              </a:rPr>
              <a:t>Questions &amp; Answers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063240"/>
            <a:ext cx="457200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B6D4"/>
                </a:solidFill>
                <a:latin typeface="Calibri"/>
              </a:rPr>
              <a:t>Group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058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CBD5E1"/>
                </a:solidFill>
                <a:latin typeface="Calibri"/>
              </a:rPr>
              <a:t>Vignesh B S  •  Rohit Maiya M  •  Sanskar Patil  •  Shailesh Nayak  •  </a:t>
            </a:r>
            <a:r>
              <a:rPr sz="1300" b="0" i="0" dirty="0" err="1">
                <a:solidFill>
                  <a:srgbClr val="CBD5E1"/>
                </a:solidFill>
                <a:latin typeface="Calibri"/>
              </a:rPr>
              <a:t>Shreenivas</a:t>
            </a:r>
            <a:r>
              <a:rPr sz="1300" b="0" i="0" dirty="0">
                <a:solidFill>
                  <a:srgbClr val="CBD5E1"/>
                </a:solidFill>
                <a:latin typeface="Calibri"/>
              </a:rPr>
              <a:t> 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7315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64748B"/>
                </a:solidFill>
                <a:latin typeface="Calibri"/>
              </a:rPr>
              <a:t>BCS405A — Discrete Mathematical Structures
4th Semester  | 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166360"/>
            <a:ext cx="10058400" cy="1417320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523951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Key Takeaway: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650992"/>
            <a:ext cx="9601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BD5E1"/>
                </a:solidFill>
                <a:latin typeface="Calibri"/>
              </a:rPr>
              <a:t>Every Machine Learning model is fundamentally a composition of mathematical functions.
DMS concepts — injectivity, surjectivity, composition, and inverses — are not just theory.
They are the mathematical backbone of every AI system we build today.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2132</Words>
  <Application>Microsoft Office PowerPoint</Application>
  <PresentationFormat>Custom</PresentationFormat>
  <Paragraphs>226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Vignesh B S</cp:lastModifiedBy>
  <cp:revision>2</cp:revision>
  <cp:lastPrinted>2026-06-15T07:05:29Z</cp:lastPrinted>
  <dcterms:created xsi:type="dcterms:W3CDTF">2013-01-27T09:14:16Z</dcterms:created>
  <dcterms:modified xsi:type="dcterms:W3CDTF">2026-06-15T07:07:40Z</dcterms:modified>
  <cp:category/>
</cp:coreProperties>
</file>